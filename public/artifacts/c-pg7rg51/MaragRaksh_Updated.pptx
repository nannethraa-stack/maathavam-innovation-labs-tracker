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8164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kern="0" spc="4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MARAG RAKSH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126187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मार्ग रक्ष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1755648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 Vehicle Screening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Piezoelectric Weight Anomaly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Infrared Sensing &amp;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Multi-Sensor Fusion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3246120"/>
            <a:ext cx="512064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3375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Inventor: Dr. Sunder Ramakrishnan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59359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IIT Research &amp; Innovation Council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84962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Intelligent Transportation Systems · Applied AI · Security Technology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42062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Patent Draft Filed  |  June 2026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365760"/>
            <a:ext cx="36576" cy="438912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365760"/>
            <a:ext cx="36576" cy="4389120"/>
          </a:xfrm>
          <a:prstGeom prst="rect">
            <a:avLst/>
          </a:prstGeom>
          <a:solidFill>
            <a:srgbClr val="02C39A">
              <a:alpha val="5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365760"/>
            <a:ext cx="36576" cy="438912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6304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028090">
              <a:alpha val="5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74320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4A261">
              <a:alpha val="4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2103120"/>
            <a:ext cx="457200" cy="4572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1783080"/>
            <a:ext cx="1097280" cy="109728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1463040"/>
            <a:ext cx="1737360" cy="173736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⬡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draft on file. All referenced statistics drawn from publicly available peer-reviewed sources, government reports, and market research. Full citations on each slide.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10996" cy="274320"/>
          </a:xfrm>
          <a:prstGeom prst="roundRect">
            <a:avLst>
              <a:gd name="adj" fmla="val 2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109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India's Vehicle Security Screening Gap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millions of vehicles cross highway corridors, urban entry points, and border checkposts — almost entirely unscreened.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2029968" cy="2377440"/>
          </a:xfrm>
          <a:prstGeom prst="rect">
            <a:avLst/>
          </a:prstGeom>
          <a:solidFill>
            <a:srgbClr val="1A2E42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36192"/>
            <a:ext cx="54864" cy="2377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60934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4,040+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8056" y="223113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smuggling cases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in India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8056" y="2807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2023–24 (till Nov 2023)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8056" y="307238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CBIC via Mordor Intelligence, 2024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468880" y="1536192"/>
            <a:ext cx="2029968" cy="2377440"/>
          </a:xfrm>
          <a:prstGeom prst="rect">
            <a:avLst/>
          </a:prstGeom>
          <a:solidFill>
            <a:srgbClr val="1A2E42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536192"/>
            <a:ext cx="54864" cy="2377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96896" y="160934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8,223 kg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596896" y="223113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Narcotics seized by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 in a single year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96896" y="2807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2023–24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96896" y="307238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 Smuggling in India Report 2023–24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17720" y="1536192"/>
            <a:ext cx="2029968" cy="2377440"/>
          </a:xfrm>
          <a:prstGeom prst="rect">
            <a:avLst/>
          </a:prstGeom>
          <a:solidFill>
            <a:srgbClr val="1A2E4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536192"/>
            <a:ext cx="54864" cy="2377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5736" y="160934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$2.76 Bn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745736" y="223113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cargo &amp; vehicle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market (2024)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45736" y="2807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at 6.5% CAGR to 2030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45736" y="307238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Intelligence, 2024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766560" y="1536192"/>
            <a:ext cx="2029968" cy="2377440"/>
          </a:xfrm>
          <a:prstGeom prst="rect">
            <a:avLst/>
          </a:prstGeom>
          <a:solidFill>
            <a:srgbClr val="1A2E42"/>
          </a:solidFill>
          <a:ln w="12700">
            <a:solidFill>
              <a:srgbClr val="F4A261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1536192"/>
            <a:ext cx="54864" cy="2377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94576" y="160934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894576" y="223113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GDP loss from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unsafe/unscreened roads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94576" y="2807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estimate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94576" y="307238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Corpseed / MoRTH, 2024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0040" y="4041648"/>
            <a:ext cx="850392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1330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CRITICAL GAP: 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011680" y="4133088"/>
            <a:ext cx="6675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checkpost screening is manual, randomised, and covers &lt;5% of vehicles. No scalable, automated, traffic-flow-preserving solution exists for road corridors in India today.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DRI Smuggling in India Report 2023–24 | CBIC data via Mordor Intelligence Cargo Screening Market Report 2024 | Corpseed / MoRTH vehicle safety data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665476" cy="274320"/>
          </a:xfrm>
          <a:prstGeom prst="roundRect">
            <a:avLst>
              <a:gd name="adj" fmla="val 2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665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SYSTEMS — WHY THEY FAIL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Exists Today — And Why It Is Not Enough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069080" cy="1627632"/>
          </a:xfrm>
          <a:prstGeom prst="rect">
            <a:avLst/>
          </a:prstGeom>
          <a:solidFill>
            <a:srgbClr val="EDF2F7"/>
          </a:solidFill>
          <a:ln w="12700">
            <a:solidFill>
              <a:srgbClr val="C0392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54864" cy="16276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234440"/>
            <a:ext cx="841248" cy="228600"/>
          </a:xfrm>
          <a:prstGeom prst="roundRect">
            <a:avLst>
              <a:gd name="adj" fmla="val 24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23444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GAP: HIGH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2161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2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Checkpoint Inspection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visually inspect vehicles at fixed posts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7282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Covers &lt;5% of actual traffic volume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19842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Cannot detect concealed compartments or weight anomalies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2402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Creates traffic disruption; easily bypassed at off-peak hours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VACIS / CBP Non-Intrusive Inspection Division documentation; arxiv:1609.02805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4069080" cy="1627632"/>
          </a:xfrm>
          <a:prstGeom prst="rect">
            <a:avLst/>
          </a:prstGeom>
          <a:solidFill>
            <a:srgbClr val="EDF2F7"/>
          </a:solidFill>
          <a:ln w="12700">
            <a:solidFill>
              <a:srgbClr val="F4A26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143000"/>
            <a:ext cx="54864" cy="16276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1234440"/>
            <a:ext cx="841248" cy="228600"/>
          </a:xfrm>
          <a:prstGeom prst="roundRect">
            <a:avLst>
              <a:gd name="adj" fmla="val 24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123444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GAP: MEDIUM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00600" y="12161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2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X-Ray / Gamma-Ray Scanners (VACIS)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15087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High-energy imaging of vehicle cargo (Leidos VACIS system)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17282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Unit cost: USD 1M+ per installation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19842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Requires dedicated scanning lanes — disrupts normal traffic flow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22402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Radiation exposure concerns limit civilian deployment at scale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256032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Leidos VACIS product documentation; Transport Security International, 2025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20040" y="2898648"/>
            <a:ext cx="4069080" cy="1627632"/>
          </a:xfrm>
          <a:prstGeom prst="rect">
            <a:avLst/>
          </a:prstGeom>
          <a:solidFill>
            <a:srgbClr val="EDF2F7"/>
          </a:solidFill>
          <a:ln w="12700">
            <a:solidFill>
              <a:srgbClr val="F4A26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898648"/>
            <a:ext cx="54864" cy="16276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29000" y="2990088"/>
            <a:ext cx="841248" cy="228600"/>
          </a:xfrm>
          <a:prstGeom prst="roundRect">
            <a:avLst>
              <a:gd name="adj" fmla="val 24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2990088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GAP: MEDIUM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57200" y="29718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2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Weigh-in-Motion (WIM) Systems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2644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or bending-plate sensors measure axle load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4838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Used only for overload enforcement — not security anomaly detection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37398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thermal or visual correlation — cannot detect concealed loads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39959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AI fusion — single-sensor, single-parameter output only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31596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WIM System Market Report, Verified Market Research 2024; NCBI PMC6864819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663440" y="2898648"/>
            <a:ext cx="4069080" cy="1627632"/>
          </a:xfrm>
          <a:prstGeom prst="rect">
            <a:avLst/>
          </a:prstGeom>
          <a:solidFill>
            <a:srgbClr val="EDF2F7"/>
          </a:solidFill>
          <a:ln w="12700">
            <a:solidFill>
              <a:srgbClr val="02809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2898648"/>
            <a:ext cx="54864" cy="16276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0" y="2990088"/>
            <a:ext cx="841248" cy="228600"/>
          </a:xfrm>
          <a:prstGeom prst="roundRect">
            <a:avLst>
              <a:gd name="adj" fmla="val 24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0" y="2990088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GAP: LOW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00600" y="29718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2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Standalone Thermal / IR Cameras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0600" y="32644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Infrared imaging of vehicle surface and cargo areas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34838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weight data correlation — thermal alone has high false-positive rate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00600" y="37398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Not integrated with vehicle identification or classification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00600" y="39959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composite risk scoring — requires human interpretation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00600" y="431596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Sensors journal DOI:10.3390/s22124567; FLIR / Axis market documentation 2024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Leidos VACIS documentation | Mordor Intelligence WIM Market 2024 | Transport Security International Magazine 2025 | NCBI PMC6864819 (WIM sensors) | arxiv.org/abs/1609.02805 (cargo screening)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66444" cy="274320"/>
          </a:xfrm>
          <a:prstGeom prst="roundRect">
            <a:avLst>
              <a:gd name="adj" fmla="val 2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26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INVENTION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Marag Raksh: System Overview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corridor-based, multi-sensor, AI-fused vehicle anomaly detection system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screens every vehicle in real time without stopping traffic.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5486400" cy="566928"/>
          </a:xfrm>
          <a:prstGeom prst="rect">
            <a:avLst/>
          </a:prstGeom>
          <a:solidFill>
            <a:srgbClr val="1A2E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72768"/>
            <a:ext cx="54864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184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  Piezoelectric WIM Sensor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14600" y="16276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Quartz sensors embedded in road. Measures axle load &amp; GVW dynamically at 20–80 km/h. ±3–5% accuracy under stabilised conditions.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51760" y="2139696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2221992"/>
            <a:ext cx="5486400" cy="566928"/>
          </a:xfrm>
          <a:prstGeom prst="rect">
            <a:avLst/>
          </a:prstGeom>
          <a:solidFill>
            <a:srgbClr val="1A2E4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21992"/>
            <a:ext cx="54864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677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🌡  Infrared Thermal Sensor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14600" y="227685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full vehicle thermal profile. Detects hidden compartments, heat-retaining materials. Operates in fog, rain, and zero-light conditions.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51760" y="2788920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2871216"/>
            <a:ext cx="5486400" cy="566928"/>
          </a:xfrm>
          <a:prstGeom prst="rect">
            <a:avLst/>
          </a:prstGeom>
          <a:solidFill>
            <a:srgbClr val="1A2E42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71216"/>
            <a:ext cx="54864" cy="5669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169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📷  AI Computer Vision Module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1460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vehicle identification + type classification + occupant count estimation via deep learning.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51760" y="3438144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520440"/>
            <a:ext cx="5486400" cy="566928"/>
          </a:xfrm>
          <a:prstGeom prst="rect">
            <a:avLst/>
          </a:prstGeom>
          <a:solidFill>
            <a:srgbClr val="1A2E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520440"/>
            <a:ext cx="54864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661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Multi-Sensor Fusion Engine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14600" y="357530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Expected Weight vs Actual Weight deviation. Correlates with thermal anomaly + visual mismatch. Generates composite risk score.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51760" y="4087368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4169664"/>
            <a:ext cx="5486400" cy="566928"/>
          </a:xfrm>
          <a:prstGeom prst="rect">
            <a:avLst/>
          </a:prstGeom>
          <a:solidFill>
            <a:srgbClr val="1A2E4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169664"/>
            <a:ext cx="54864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2153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 Real-Time Alert &amp; Response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514600" y="42245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Risk-classified output (Low / Moderate / High). Transmits to downstream interception units instantly. Zero traffic stoppage at sensing point.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1481328"/>
            <a:ext cx="2788920" cy="3200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1536192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OUTPUTS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44768" y="1956816"/>
            <a:ext cx="2560320" cy="0"/>
          </a:xfrm>
          <a:prstGeom prst="line">
            <a:avLst/>
          </a:prstGeom>
          <a:noFill/>
          <a:ln w="12700">
            <a:solidFill>
              <a:srgbClr val="1A2E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199339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406640" y="1993392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3-tier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 / M / 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44768" y="2487168"/>
            <a:ext cx="2560320" cy="0"/>
          </a:xfrm>
          <a:prstGeom prst="line">
            <a:avLst/>
          </a:prstGeom>
          <a:noFill/>
          <a:ln w="12700">
            <a:solidFill>
              <a:srgbClr val="1A2E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252374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Impact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06640" y="2523744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stoppage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44768" y="3017520"/>
            <a:ext cx="2560320" cy="0"/>
          </a:xfrm>
          <a:prstGeom prst="line">
            <a:avLst/>
          </a:prstGeom>
          <a:noFill/>
          <a:ln w="12700">
            <a:solidFill>
              <a:srgbClr val="1A2E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44768" y="305409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Speed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406640" y="3054096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20–80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km/h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44768" y="3547872"/>
            <a:ext cx="2560320" cy="0"/>
          </a:xfrm>
          <a:prstGeom prst="line">
            <a:avLst/>
          </a:prstGeom>
          <a:noFill/>
          <a:ln w="12700">
            <a:solidFill>
              <a:srgbClr val="1A2E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358444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406640" y="3584448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vehicles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44768" y="4078224"/>
            <a:ext cx="2560320" cy="0"/>
          </a:xfrm>
          <a:prstGeom prst="line">
            <a:avLst/>
          </a:prstGeom>
          <a:noFill/>
          <a:ln w="12700">
            <a:solidFill>
              <a:srgbClr val="1A2E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44768" y="411480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/ Fog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406640" y="4114800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operability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based on patent draft by Dr. Sunder Ramakrishnan. WIM speed range per: NCBI PMC7219347. Thermal all-condition operability: DOI:10.3390/s22124567 (Bhadoriya et al., MDPI Sensors 2022).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21892" cy="274320"/>
          </a:xfrm>
          <a:prstGeom prst="roundRect">
            <a:avLst>
              <a:gd name="adj" fmla="val 2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21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INNOVATION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Novelty: Multi-Sensor Anomaly Fusion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deployed system combines all three modalities into a unified, non-stop, road-embedded anomaly scoring engine.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1600200" cy="3127248"/>
          </a:xfrm>
          <a:prstGeom prst="rect">
            <a:avLst/>
          </a:prstGeom>
          <a:solidFill>
            <a:srgbClr val="121F2E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" y="150876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Weight Calc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706624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kerb weight (database lookup) + AI-estimated occupant load + standard tolerance band.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2651760"/>
            <a:ext cx="100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020824" y="1444752"/>
            <a:ext cx="1600200" cy="3127248"/>
          </a:xfrm>
          <a:prstGeom prst="rect">
            <a:avLst/>
          </a:prstGeom>
          <a:solidFill>
            <a:srgbClr val="121F2E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87752" y="150876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87752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12264" y="2084832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 WIM Measurement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12264" y="2706624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sensors capture dynamic axle load and GVW as vehicle passes at road speed.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21024" y="2651760"/>
            <a:ext cx="100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721608" y="1444752"/>
            <a:ext cx="1600200" cy="3127248"/>
          </a:xfrm>
          <a:prstGeom prst="rect">
            <a:avLst/>
          </a:prstGeom>
          <a:solidFill>
            <a:srgbClr val="121F2E"/>
          </a:solidFill>
          <a:ln w="12700">
            <a:solidFill>
              <a:srgbClr val="F4A26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88536" y="1508760"/>
            <a:ext cx="475488" cy="47548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88536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13048" y="2084832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Thermal Signature Analysis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13048" y="2706624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 identifies abnormal heat distribution — concealed compartments, recently loaded dense materials.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21808" y="2651760"/>
            <a:ext cx="100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422392" y="1444752"/>
            <a:ext cx="1600200" cy="3127248"/>
          </a:xfrm>
          <a:prstGeom prst="rect">
            <a:avLst/>
          </a:prstGeom>
          <a:solidFill>
            <a:srgbClr val="121F2E"/>
          </a:solidFill>
          <a:ln w="12700">
            <a:solidFill>
              <a:srgbClr val="F4A26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1508760"/>
            <a:ext cx="475488" cy="47548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13832" y="2084832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Classification Cross-Check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13832" y="2706624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camera classifies vehicle type, estimates occupancy. Mismatch between declared vs detected type flagged.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22592" y="2651760"/>
            <a:ext cx="100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123176" y="1444752"/>
            <a:ext cx="1600200" cy="3127248"/>
          </a:xfrm>
          <a:prstGeom prst="rect">
            <a:avLst/>
          </a:prstGeom>
          <a:solidFill>
            <a:srgbClr val="121F2E"/>
          </a:solidFill>
          <a:ln w="12700">
            <a:solidFill>
              <a:srgbClr val="02C39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690104" y="150876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0104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14616" y="2084832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Composite Anomaly Score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14616" y="2706624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fusion of weight deviation + thermal anomaly + visual mismatch → Low / Moderate / High risk output.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553712"/>
            <a:ext cx="8503920" cy="310896"/>
          </a:xfrm>
          <a:prstGeom prst="rect">
            <a:avLst/>
          </a:prstGeom>
          <a:solidFill>
            <a:srgbClr val="121F2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572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patent claim: The composite anomaly score derived from simultaneous weight deviation + thermal + visual fusion is the novel inventive step — no prior art integrates all three for road-embedded non-stop security screening.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novelty claim supported by: DOI:10.3390/s24185865 (Kaul et al., Glasgow 2024) — AI sensor fusion for concealed detection; NCBI PMC10221636 (Liang et al., Shandong Univ 2023) — WIM sensing advances.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965960" cy="274320"/>
          </a:xfrm>
          <a:prstGeom prst="roundRect">
            <a:avLst>
              <a:gd name="adj" fmla="val 2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DIFFERENTIATION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This Unique — And What Is Missing From The Market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8503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17043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51176" y="117043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Inspection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31336" y="117043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X-Ray / VACIS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11496" y="117043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WIM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91656" y="117043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 Camera Only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71816" y="117043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MARAG RAKSH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" y="158191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traffic stoppage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51176" y="1581912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31336" y="1581912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11496" y="1581912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D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1656" y="1581912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D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71816" y="1581912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1956816"/>
            <a:ext cx="850392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" y="1984248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weight anomaly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51176" y="1984248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31336" y="1984248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11496" y="1984248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D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91656" y="1984248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71816" y="1984248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" y="2359152"/>
            <a:ext cx="8503920" cy="3840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" y="2386584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thermal / concealed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51176" y="2386584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31336" y="2386584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11496" y="2386584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91656" y="2386584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71816" y="2386584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0040" y="2761488"/>
            <a:ext cx="850392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616" y="2788920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vehicle identification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51176" y="2788920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831336" y="2788920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11496" y="2788920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91656" y="2788920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671816" y="27889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20040" y="3163824"/>
            <a:ext cx="8503920" cy="3840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616" y="3191256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 (fusion)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551176" y="3191256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831336" y="3191256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111496" y="3191256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391656" y="3191256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671816" y="3191256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20040" y="3566160"/>
            <a:ext cx="850392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6616" y="359359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— no radiation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551176" y="3593592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D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831336" y="3593592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111496" y="3593592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D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391656" y="3593592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D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671816" y="3593592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20040" y="3968496"/>
            <a:ext cx="8503920" cy="3840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6616" y="3995928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All-weather / night operation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551176" y="3995928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3831336" y="3995928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111496" y="3995928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D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391656" y="3995928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D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671816" y="3995928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320040" y="4370832"/>
            <a:ext cx="850392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6616" y="4398264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vehicle coverage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551176" y="4398264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3831336" y="4398264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111496" y="4398264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D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6391656" y="4398264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7671816" y="4398264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7635240" y="1170432"/>
            <a:ext cx="1371600" cy="4005072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based on: Leidos VACIS product specifications | WIM Market Report, Verified Market Research 2024 | Cargo &amp; Vehicle Screening Market, Mordor Intelligence 2024 | FLIR / Axis thermal camera documentation 2024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21892" cy="274320"/>
          </a:xfrm>
          <a:prstGeom prst="roundRect">
            <a:avLst>
              <a:gd name="adj" fmla="val 26667"/>
            </a:avLst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21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SPECS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Specifications &amp; Scientific Basis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743200" cy="3520440"/>
          </a:xfrm>
          <a:prstGeom prst="rect">
            <a:avLst/>
          </a:prstGeom>
          <a:solidFill>
            <a:srgbClr val="121F2E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27432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704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Piezoelectric WIM Module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664208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Type:  Quartz piezoelectric, road-embedded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" y="1664208"/>
            <a:ext cx="2487168" cy="0"/>
          </a:xfrm>
          <a:prstGeom prst="line">
            <a:avLst/>
          </a:prstGeom>
          <a:noFill/>
          <a:ln w="12700">
            <a:solidFill>
              <a:srgbClr val="1A2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19456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Measurement:  Axle load + GVW dynamically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2194560"/>
            <a:ext cx="2487168" cy="0"/>
          </a:xfrm>
          <a:prstGeom prst="line">
            <a:avLst/>
          </a:prstGeom>
          <a:noFill/>
          <a:ln w="12700">
            <a:solidFill>
              <a:srgbClr val="1A2E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72491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Speed:  20–80 km/h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" y="2724912"/>
            <a:ext cx="2487168" cy="0"/>
          </a:xfrm>
          <a:prstGeom prst="line">
            <a:avLst/>
          </a:prstGeom>
          <a:noFill/>
          <a:ln w="12700">
            <a:solidFill>
              <a:srgbClr val="1A2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25526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 ±3–5% under stabilised conditions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" y="3255264"/>
            <a:ext cx="2487168" cy="0"/>
          </a:xfrm>
          <a:prstGeom prst="line">
            <a:avLst/>
          </a:prstGeom>
          <a:noFill/>
          <a:ln w="12700">
            <a:solidFill>
              <a:srgbClr val="1A2E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78561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Basis:  NCBI PMC6864819; DOI:10.3390/s23104758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" y="3785616"/>
            <a:ext cx="2487168" cy="0"/>
          </a:xfrm>
          <a:prstGeom prst="line">
            <a:avLst/>
          </a:prstGeom>
          <a:noFill/>
          <a:ln w="12700">
            <a:solidFill>
              <a:srgbClr val="1A2E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1170432"/>
            <a:ext cx="2743200" cy="3520440"/>
          </a:xfrm>
          <a:prstGeom prst="rect">
            <a:avLst/>
          </a:prstGeom>
          <a:solidFill>
            <a:srgbClr val="121F2E"/>
          </a:solidFill>
          <a:ln w="12700">
            <a:solidFill>
              <a:srgbClr val="F4A26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170432"/>
            <a:ext cx="274320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1704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Infrared Thermal Module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1664208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Type:  Long-Wave Infrared (LWIR) uncooled array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10128" y="1664208"/>
            <a:ext cx="2487168" cy="0"/>
          </a:xfrm>
          <a:prstGeom prst="line">
            <a:avLst/>
          </a:prstGeom>
          <a:noFill/>
          <a:ln w="12700">
            <a:solidFill>
              <a:srgbClr val="1A2E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219456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Detects:  Concealed compartments, heat-retaining loads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10128" y="2194560"/>
            <a:ext cx="2487168" cy="0"/>
          </a:xfrm>
          <a:prstGeom prst="line">
            <a:avLst/>
          </a:prstGeom>
          <a:noFill/>
          <a:ln w="12700">
            <a:solidFill>
              <a:srgbClr val="1A2E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72491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Conditions:  Night, fog, rain — fully operational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10128" y="2724912"/>
            <a:ext cx="2487168" cy="0"/>
          </a:xfrm>
          <a:prstGeom prst="line">
            <a:avLst/>
          </a:prstGeom>
          <a:noFill/>
          <a:ln w="12700">
            <a:solidFill>
              <a:srgbClr val="1A2E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325526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Reduction:  Via multi-sensor correlation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10128" y="3255264"/>
            <a:ext cx="2487168" cy="0"/>
          </a:xfrm>
          <a:prstGeom prst="line">
            <a:avLst/>
          </a:prstGeom>
          <a:noFill/>
          <a:ln w="12700">
            <a:solidFill>
              <a:srgbClr val="1A2E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378561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Basis:  DOI:10.3390/s22124567 (Bhadoriya et al.)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10128" y="3785616"/>
            <a:ext cx="2487168" cy="0"/>
          </a:xfrm>
          <a:prstGeom prst="line">
            <a:avLst/>
          </a:prstGeom>
          <a:noFill/>
          <a:ln w="12700">
            <a:solidFill>
              <a:srgbClr val="1A2E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1170432"/>
            <a:ext cx="2743200" cy="3856432"/>
          </a:xfrm>
          <a:prstGeom prst="rect">
            <a:avLst/>
          </a:prstGeom>
          <a:solidFill>
            <a:srgbClr val="121F2E"/>
          </a:solidFill>
          <a:ln w="12700">
            <a:solidFill>
              <a:srgbClr val="02C39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1170432"/>
            <a:ext cx="274320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11704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Computer Vision Module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90488" y="1664208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 ANPR, vehicle type classification, occupant count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90488" y="1664208"/>
            <a:ext cx="2487168" cy="0"/>
          </a:xfrm>
          <a:prstGeom prst="line">
            <a:avLst/>
          </a:prstGeom>
          <a:noFill/>
          <a:ln w="12700">
            <a:solidFill>
              <a:srgbClr val="1A2E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0488" y="219456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 Deep learning CNN (convolutional neural network)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90488" y="2194560"/>
            <a:ext cx="2487168" cy="0"/>
          </a:xfrm>
          <a:prstGeom prst="line">
            <a:avLst/>
          </a:prstGeom>
          <a:noFill/>
          <a:ln w="12700">
            <a:solidFill>
              <a:srgbClr val="1A2E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0488" y="272491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Classes:  Car, SUV, truck, bus, two-wheeler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90488" y="2724912"/>
            <a:ext cx="2487168" cy="0"/>
          </a:xfrm>
          <a:prstGeom prst="line">
            <a:avLst/>
          </a:prstGeom>
          <a:noFill/>
          <a:ln w="12700">
            <a:solidFill>
              <a:srgbClr val="1A2E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0488" y="325526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 Cross-validated against kerb weight database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90488" y="3255264"/>
            <a:ext cx="2487168" cy="0"/>
          </a:xfrm>
          <a:prstGeom prst="line">
            <a:avLst/>
          </a:prstGeom>
          <a:noFill/>
          <a:ln w="12700">
            <a:solidFill>
              <a:srgbClr val="1A2E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0488" y="378561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Basis:  DOI:10.3390/s24185865 (Kaul et al., Glasgow 2024)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90488" y="3785616"/>
            <a:ext cx="2487168" cy="0"/>
          </a:xfrm>
          <a:prstGeom prst="line">
            <a:avLst/>
          </a:prstGeom>
          <a:noFill/>
          <a:ln w="12700">
            <a:solidFill>
              <a:srgbClr val="1A2E4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90488" y="4242816"/>
            <a:ext cx="2487168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80760" y="4242816"/>
            <a:ext cx="2743200" cy="384048"/>
          </a:xfrm>
          <a:prstGeom prst="rect">
            <a:avLst/>
          </a:prstGeom>
          <a:solidFill>
            <a:srgbClr val="02C39A">
              <a:alpha val="20000"/>
            </a:srgbClr>
          </a:solidFill>
          <a:ln w="19050">
            <a:solidFill>
              <a:srgbClr val="02C39A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2C39A"/>
                </a:solidFill>
                <a:latin typeface="Trebuchet MS" pitchFamily="34" charset="0"/>
              </a:rPr>
              <a:t>🔄 Continuous Learning:</a:t>
            </a:r>
            <a:r>
              <a:rPr lang="en-US" sz="750" dirty="0">
                <a:solidFill>
                  <a:srgbClr val="EDF2F7"/>
                </a:solidFill>
                <a:latin typeface="Calibri" pitchFamily="34" charset="0"/>
              </a:rPr>
              <a:t>  Model is pre-loaded with behavioural profiles and continuously learns from perpetrator data to sharpen detection accuracy over time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20040" y="4645152"/>
            <a:ext cx="8503920" cy="201168"/>
          </a:xfrm>
          <a:prstGeom prst="rect">
            <a:avLst/>
          </a:prstGeom>
          <a:solidFill>
            <a:srgbClr val="121F2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66344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Stabilisation Zone: Non-intrusive — uses lane geometry and visual cues only. No physical speed breakers. Per patent claim 7.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refs: NCBI PMC6864819 (piezoelectric WIM) | DOI:10.3390/s22124567 (LWIR thermal vehicle detection) | DOI:10.3390/s24185865 (AI sensor fusion) | DOI:10.3390/s23104758 (WIM nanocomposite sensors 2023)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55064" cy="274320"/>
          </a:xfrm>
          <a:prstGeom prst="roundRect">
            <a:avLst>
              <a:gd name="adj" fmla="val 2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 &amp; Deployment Scope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743200" cy="1389888"/>
          </a:xfrm>
          <a:prstGeom prst="rect">
            <a:avLst/>
          </a:prstGeom>
          <a:solidFill>
            <a:srgbClr val="1A2E4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54864" cy="1389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$4.04 Bn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Cargo &amp; Vehicle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Market by 2030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6.5%  |  Mordor Intelligence 2024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27832" y="1170432"/>
            <a:ext cx="2743200" cy="1389888"/>
          </a:xfrm>
          <a:prstGeom prst="rect">
            <a:avLst/>
          </a:prstGeom>
          <a:solidFill>
            <a:srgbClr val="1A2E42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170432"/>
            <a:ext cx="54864" cy="13898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243584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$1.14 Bn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64992" y="177393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WIM System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by 2032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64992" y="217627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6.2%  |  Verified Market Research 2024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135624" y="1170432"/>
            <a:ext cx="2743200" cy="1389888"/>
          </a:xfrm>
          <a:prstGeom prst="rect">
            <a:avLst/>
          </a:prstGeom>
          <a:solidFill>
            <a:srgbClr val="1A2E42"/>
          </a:solidFill>
          <a:ln w="12700">
            <a:solidFill>
              <a:srgbClr val="F4A261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35624" y="1170432"/>
            <a:ext cx="54864" cy="13898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1243584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 Bn+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72784" y="177393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Thermal Imaging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(2023)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72784" y="217627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10.7% to 2032  |  GM Insights 2024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5760" y="272491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 Deployment Scenarios — India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127248"/>
            <a:ext cx="4069080" cy="676656"/>
          </a:xfrm>
          <a:prstGeom prst="rect">
            <a:avLst/>
          </a:prstGeom>
          <a:solidFill>
            <a:srgbClr val="1A2E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1729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🛣  National / State Highway Corridors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9768" y="342900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toll plazas and existing check points. 100% vehicle coverage with zero disruption.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3127248"/>
            <a:ext cx="4069080" cy="676656"/>
          </a:xfrm>
          <a:prstGeom prst="rect">
            <a:avLst/>
          </a:prstGeom>
          <a:solidFill>
            <a:srgbClr val="1A2E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1729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🏙  Urban Entry / Exit Points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73168" y="342900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perimeter screening for VIP zones, sensitive areas, and high-density urban access corridors.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931920"/>
            <a:ext cx="4069080" cy="676656"/>
          </a:xfrm>
          <a:prstGeom prst="rect">
            <a:avLst/>
          </a:prstGeom>
          <a:solidFill>
            <a:srgbClr val="1A2E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3977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🚔  Border Checkposts (BSF / CRPF)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9768" y="42336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intelligence-led interception with real-time weight + thermal anomaly flags on every vehicle.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931920"/>
            <a:ext cx="4069080" cy="676656"/>
          </a:xfrm>
          <a:prstGeom prst="rect">
            <a:avLst/>
          </a:prstGeom>
          <a:solidFill>
            <a:srgbClr val="1A2E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3977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  Industrial / Port Zone Perimeters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73168" y="42336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cargo facility access control — automatic risk scoring without slowing logistics.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data: Mordor Intelligence Cargo &amp; Vehicle Screening Report 2024 | Verified Market Research WIM System Market 2024 | GM Insights Thermal Imaging Market 2024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2290</TotalTime>
  <Words>1571</Words>
  <Application>Microsoft Office PowerPoint</Application>
  <PresentationFormat>On-screen Show (16:9)</PresentationFormat>
  <Paragraphs>247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Marag Raksh — Non-Intrusive Vehicle Screening System</dc:title>
  <dc:subject>PptxGenJS Presentation</dc:subject>
  <dc:creator>Dr. Sunder Ramakrishnan</dc:creator>
  <cp:lastModifiedBy>Nanda Kumar</cp:lastModifiedBy>
  <cp:revision>2</cp:revision>
  <dcterms:created xsi:type="dcterms:W3CDTF">2026-06-02T03:16:50Z</dcterms:created>
  <dcterms:modified xsi:type="dcterms:W3CDTF">2026-06-04T05:18:28Z</dcterms:modified>
</cp:coreProperties>
</file>