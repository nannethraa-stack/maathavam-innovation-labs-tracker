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274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0"/>
            <a:ext cx="64008" cy="5143500"/>
          </a:xfrm>
          <a:prstGeom prst="rect">
            <a:avLst/>
          </a:prstGeom>
          <a:solidFill>
            <a:srgbClr val="F5C060"/>
          </a:solidFill>
          <a:ln w="12700">
            <a:solidFill>
              <a:srgbClr val="F5C06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411480"/>
            <a:ext cx="1417320" cy="1417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7772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TransitGuard™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02920" y="14630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Zero-Pilferage Hardware Security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502920" y="19385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India's Fuel Tanker Fleet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502920" y="2542032"/>
            <a:ext cx="4572000" cy="36576"/>
          </a:xfrm>
          <a:prstGeom prst="rect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697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·  Solution  ·  Breach Response  ·  ROI  ·  Differentiation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475488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JUNE 2026  |  Patent : Dr Sundar Ramakrishnan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Fuel Pilferage Crisis — The Numbers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07899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320040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Per Trip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20040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fuel lost per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tanker to pilferage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The Fuel Delivery, 2023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404872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0" y="10789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312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L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496312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Truck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496312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per-truck siphon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trip (Bangalore terminals)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2496312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Deccan Herald Investigation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581144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1078992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672584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10–20%</a:t>
            </a:r>
            <a:endParaRPr lang="en-US" sz="2800" dirty="0"/>
          </a:p>
        </p:txBody>
      </p:sp>
      <p:sp>
        <p:nvSpPr>
          <p:cNvPr id="20" name="Text 15"/>
          <p:cNvSpPr/>
          <p:nvPr/>
        </p:nvSpPr>
        <p:spPr>
          <a:xfrm>
            <a:off x="4672584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Cost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72584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fleet fuel expenditure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pilferage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672584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FleetX.io Intelligence, 2026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6757416" y="960120"/>
            <a:ext cx="202996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144" y="1078992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48856" y="15544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 Cr+</a:t>
            </a:r>
            <a:endParaRPr lang="en-US" sz="2800" dirty="0"/>
          </a:p>
        </p:txBody>
      </p:sp>
      <p:sp>
        <p:nvSpPr>
          <p:cNvPr id="26" name="Text 20"/>
          <p:cNvSpPr/>
          <p:nvPr/>
        </p:nvSpPr>
        <p:spPr>
          <a:xfrm>
            <a:off x="6848856" y="2176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Loss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848856" y="245059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national transit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at 1% of 5.5M b/d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6848856" y="34015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EIA India 2024; Industry est.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228600" y="3913632"/>
            <a:ext cx="3657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65760" y="389534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consumed 5.5 million barrels/day in 2024 — even 1% transit loss = ₹8,000–12,000 Cr annually  [EIA Country Analysis: India, 2024]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228600" y="4261104"/>
            <a:ext cx="3657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365760" y="424281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GPS-only and app-based systems defeated daily — drivers unplug OBD dongles or exploit network dead zones  [FleetX.io Fleet Intelligence, 2026]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228600" y="4608576"/>
            <a:ext cx="36576" cy="2011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65760" y="45902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diesel revised to ₹109.59/litre (March 2026), making every litre lost increasingly costly  [IOCL / Autocar Professional, March 2026]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Drivers Beat Today's Systems — Four Exploit Vectors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73152" cy="1664208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475488" cy="475488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051560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33272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Kill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" y="143560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turns off phone Bluetooth. App-based trackers go dark with no alert. Tanker invisible for hours.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90872" y="96012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690872" y="960120"/>
            <a:ext cx="73152" cy="1664208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73752" y="1143000"/>
            <a:ext cx="475488" cy="475488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73752" y="11430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4192" y="1051560"/>
            <a:ext cx="438912" cy="4389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95544" y="111556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Unplug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495544" y="143560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 dongle yanked or power cut. Signal loss logged as 'dead zone' — completely unverifiable by depot.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28600" y="274320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28600" y="2743200"/>
            <a:ext cx="73152" cy="16642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11480" y="2926080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1148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920" y="2834640"/>
            <a:ext cx="438912" cy="43891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33272" y="2898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Duplication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33272" y="321868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Abloy seal keys cloned via insider nexus. ~60 litres removed in minutes within the 35 km depot-to-bunk window.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690872" y="2743200"/>
            <a:ext cx="4279392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690872" y="2743200"/>
            <a:ext cx="73152" cy="16642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73752" y="2926080"/>
            <a:ext cx="475488" cy="47548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873752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2834640"/>
            <a:ext cx="438912" cy="438912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495544" y="28986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Dilution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5495544" y="321868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Petrol/diesel adulterated with kerosene mid-transit. Density change invisible without real-time sensor fingerprinting.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28600" y="4553712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Deccan Herald 'Anatomy of Oil Pilferage'; IJCA Anti-Pilferage Research (2018); FleetX.io Fleet Intelligence (2026)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TransitGuard™ Architecture: Zero Driver Dependence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89611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hardware topology — every sensor hardwired, every alert automated. No phone. No Bluetooth. No driver touchpoint.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Density Sensor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9842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Tuning-fork inline density meter. Flags ±0.5% deviation — catches kerosene adulteration in real time.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72968" y="1325880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1FA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463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58768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Sensors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10128" y="19842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Capacitive/ultrasonic rods. Detects 2–3 litre drop in a 20,000 L tank — siphon-level precision.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17336" y="1325880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D9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463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03136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Armored TCU (Black Box)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54496" y="1984248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Military-grade controller in cabin. Galvanized steel conduit. Conduit break = instant tamper alert.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28600" y="3044952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182112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14400" y="3182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eSIM + Cell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365760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SIM bypasses phone &amp; Bluetooth entirely. Direct tower connection, always-on.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172968" y="3044952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2DB8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182112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58768" y="3182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Backup Battery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310128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through main battery cuts. Battery disconnect triggers POWER CUT ALERT with live GPS.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117336" y="3044952"/>
            <a:ext cx="2816352" cy="1572768"/>
          </a:xfrm>
          <a:prstGeom prst="rect">
            <a:avLst/>
          </a:prstGeom>
          <a:solidFill>
            <a:srgbClr val="243040"/>
          </a:solidFill>
          <a:ln w="12700">
            <a:solidFill>
              <a:srgbClr val="F5C0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182112"/>
            <a:ext cx="457200" cy="45720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803136" y="318211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Stationary Siphon Alert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254496" y="37033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drop detected while vehicle is stationary = auto-flag to dashboard and WhatsApp/SMS.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</a:ln>
        </p:spPr>
      </p:sp>
      <p:sp>
        <p:nvSpPr>
          <p:cNvPr id="3" name="SectionLabel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libri" pitchFamily="34" charset="0"/>
              </a:rPr>
              <a:t>OPERATIONAL CHECKS</a:t>
            </a:r>
          </a:p>
        </p:txBody>
      </p:sp>
      <p:sp>
        <p:nvSpPr>
          <p:cNvPr id="4" name="Title"/>
          <p:cNvSpPr/>
          <p:nvPr/>
        </p:nvSpPr>
        <p:spPr>
          <a:xfrm>
            <a:off x="365760" y="831000"/>
            <a:ext cx="84124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</a:rPr>
              <a:t>TransitGuard™ Sensor Checks at Every Stage</a:t>
            </a:r>
          </a:p>
        </p:txBody>
      </p:sp>
      <p:sp>
        <p:nvSpPr>
          <p:cNvPr id="5" name="Subtitle"/>
          <p:cNvSpPr/>
          <p:nvPr/>
        </p:nvSpPr>
        <p:spPr>
          <a:xfrm>
            <a:off x="365760" y="1330000"/>
            <a:ext cx="84124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0" dirty="0">
                <a:solidFill>
                  <a:srgbClr val="B0BEC5"/>
                </a:solidFill>
                <a:latin typeface="Calibri" pitchFamily="34" charset="0"/>
              </a:rPr>
              <a:t>Automated hardware checks run at every phase — zero driver involvement, tamper-proof logging to TCU black box.</a:t>
            </a:r>
          </a:p>
        </p:txBody>
      </p:sp>
      <p:sp>
        <p:nvSpPr>
          <p:cNvPr id="6" name="Col1BG"/>
          <p:cNvSpPr/>
          <p:nvPr/>
        </p:nvSpPr>
        <p:spPr>
          <a:xfrm>
            <a:off x="365760" y="1720000"/>
            <a:ext cx="2630000" cy="4200000"/>
          </a:xfrm>
          <a:prstGeom prst="roundRect">
            <a:avLst>
              <a:gd name="adj" fmla="val 30000"/>
            </a:avLst>
          </a:prstGeom>
          <a:solidFill>
            <a:srgbClr val="1E2D3D"/>
          </a:solidFill>
          <a:ln w="19050">
            <a:solidFill>
              <a:srgbClr val="E8A020"/>
            </a:solidFill>
          </a:ln>
        </p:spPr>
      </p:sp>
      <p:sp>
        <p:nvSpPr>
          <p:cNvPr id="7" name="Col1Badge"/>
          <p:cNvSpPr/>
          <p:nvPr/>
        </p:nvSpPr>
        <p:spPr>
          <a:xfrm>
            <a:off x="365760" y="1720000"/>
            <a:ext cx="2630000" cy="480000"/>
          </a:xfrm>
          <a:prstGeom prst="roundRect">
            <a:avLst>
              <a:gd name="adj" fmla="val 30000"/>
            </a:avLst>
          </a:prstGeom>
          <a:solidFill>
            <a:srgbClr val="E8A020"/>
          </a:solidFill>
          <a:ln w="0">
            <a:noFill/>
          </a:ln>
        </p:spPr>
      </p:sp>
      <p:sp>
        <p:nvSpPr>
          <p:cNvPr id="8" name="Col1Header"/>
          <p:cNvSpPr/>
          <p:nvPr/>
        </p:nvSpPr>
        <p:spPr>
          <a:xfrm>
            <a:off x="365760" y="1720000"/>
            <a:ext cx="2630000" cy="4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</a:rPr>
              <a:t>🛢 DURING FILLING</a:t>
            </a:r>
          </a:p>
        </p:txBody>
      </p:sp>
      <p:sp>
        <p:nvSpPr>
          <p:cNvPr id="9" name="Col1Content"/>
          <p:cNvSpPr/>
          <p:nvPr/>
        </p:nvSpPr>
        <p:spPr>
          <a:xfrm>
            <a:off x="400000" y="2240000"/>
            <a:ext cx="2560000" cy="36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020"/>
                </a:solidFill>
                <a:latin typeface="Calibri"/>
              </a:rPr>
              <a:t>Initial Density Baseline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Tuning-fork density sensor captures product fingerprint before departure. Stored in TCU.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020"/>
                </a:solidFill>
                <a:latin typeface="Calibri"/>
              </a:rPr>
              <a:t>Volume at Departure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Capacitive/ultrasonic rod records exact fill volume — baseline for all downstream delta checks.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020"/>
                </a:solidFill>
                <a:latin typeface="Calibri"/>
              </a:rPr>
              <a:t>Hatch &amp; Valve Seal Status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All hatches and foot valves confirmed closed. Open status blocks dispatch alert.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E8A020"/>
                </a:solidFill>
                <a:latin typeface="Calibri"/>
              </a:rPr>
              <a:t>TCU &amp; eSIM Connectivity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Industrial eSIM live, GPS lock confirmed, battery backup at 100%. System ready for transit.</a:t>
            </a:r>
          </a:p>
        </p:txBody>
      </p:sp>
      <p:sp>
        <p:nvSpPr>
          <p:cNvPr id="10" name="Col2BG"/>
          <p:cNvSpPr/>
          <p:nvPr/>
        </p:nvSpPr>
        <p:spPr>
          <a:xfrm>
            <a:off x="3257000" y="1720000"/>
            <a:ext cx="2630000" cy="4200000"/>
          </a:xfrm>
          <a:prstGeom prst="roundRect">
            <a:avLst>
              <a:gd name="adj" fmla="val 30000"/>
            </a:avLst>
          </a:prstGeom>
          <a:solidFill>
            <a:srgbClr val="1E2D3D"/>
          </a:solidFill>
          <a:ln w="19050">
            <a:solidFill>
              <a:srgbClr val="02C39A"/>
            </a:solidFill>
          </a:ln>
        </p:spPr>
      </p:sp>
      <p:sp>
        <p:nvSpPr>
          <p:cNvPr id="11" name="Col2Badge"/>
          <p:cNvSpPr/>
          <p:nvPr/>
        </p:nvSpPr>
        <p:spPr>
          <a:xfrm>
            <a:off x="3257000" y="1720000"/>
            <a:ext cx="2630000" cy="480000"/>
          </a:xfrm>
          <a:prstGeom prst="roundRect">
            <a:avLst>
              <a:gd name="adj" fmla="val 30000"/>
            </a:avLst>
          </a:prstGeom>
          <a:solidFill>
            <a:srgbClr val="02C39A"/>
          </a:solidFill>
          <a:ln w="0">
            <a:noFill/>
          </a:ln>
        </p:spPr>
      </p:sp>
      <p:sp>
        <p:nvSpPr>
          <p:cNvPr id="12" name="Col2Header"/>
          <p:cNvSpPr/>
          <p:nvPr/>
        </p:nvSpPr>
        <p:spPr>
          <a:xfrm>
            <a:off x="3257000" y="1720000"/>
            <a:ext cx="2630000" cy="4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6202B"/>
                </a:solidFill>
                <a:latin typeface="Calibri" pitchFamily="34" charset="0"/>
              </a:rPr>
              <a:t>⏸ AT TRANSIT STOP</a:t>
            </a:r>
          </a:p>
        </p:txBody>
      </p:sp>
      <p:sp>
        <p:nvSpPr>
          <p:cNvPr id="13" name="Col2Content"/>
          <p:cNvSpPr/>
          <p:nvPr/>
        </p:nvSpPr>
        <p:spPr>
          <a:xfrm>
            <a:off x="3290000" y="2240000"/>
            <a:ext cx="2560000" cy="36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/>
              </a:rPr>
              <a:t>Stationary Siphon Alert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Any volume drop while vehicle is stationary triggers instant dashboard + WhatsApp/SMS alert.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/>
              </a:rPr>
              <a:t>Density Re-Check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±0.5% deviation from baseline flags possible kerosene adulteration mid-route.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/>
              </a:rPr>
              <a:t>Conduit Integrity Check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Armored conduit continuity verified. Break in galvanized conduit fires tamper alert immediately.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02C39A"/>
                </a:solidFill>
                <a:latin typeface="Calibri"/>
              </a:rPr>
              <a:t>GPS + Battery Status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Live GPS broadcast continues. Main battery disconnect triggers POWER CUT ALERT with location.</a:t>
            </a:r>
          </a:p>
        </p:txBody>
      </p:sp>
      <p:sp>
        <p:nvSpPr>
          <p:cNvPr id="14" name="Col3BG"/>
          <p:cNvSpPr/>
          <p:nvPr/>
        </p:nvSpPr>
        <p:spPr>
          <a:xfrm>
            <a:off x="6148000" y="1720000"/>
            <a:ext cx="2630000" cy="4200000"/>
          </a:xfrm>
          <a:prstGeom prst="roundRect">
            <a:avLst>
              <a:gd name="adj" fmla="val 30000"/>
            </a:avLst>
          </a:prstGeom>
          <a:solidFill>
            <a:srgbClr val="1E2D3D"/>
          </a:solidFill>
          <a:ln w="19050">
            <a:solidFill>
              <a:srgbClr val="5B9BD5"/>
            </a:solidFill>
          </a:ln>
        </p:spPr>
      </p:sp>
      <p:sp>
        <p:nvSpPr>
          <p:cNvPr id="15" name="Col3Badge"/>
          <p:cNvSpPr/>
          <p:nvPr/>
        </p:nvSpPr>
        <p:spPr>
          <a:xfrm>
            <a:off x="6148000" y="1720000"/>
            <a:ext cx="2630000" cy="480000"/>
          </a:xfrm>
          <a:prstGeom prst="roundRect">
            <a:avLst>
              <a:gd name="adj" fmla="val 30000"/>
            </a:avLst>
          </a:prstGeom>
          <a:solidFill>
            <a:srgbClr val="5B9BD5"/>
          </a:solidFill>
          <a:ln w="0">
            <a:noFill/>
          </a:ln>
        </p:spPr>
      </p:sp>
      <p:sp>
        <p:nvSpPr>
          <p:cNvPr id="16" name="Col3Header"/>
          <p:cNvSpPr/>
          <p:nvPr/>
        </p:nvSpPr>
        <p:spPr>
          <a:xfrm>
            <a:off x="6148000" y="1720000"/>
            <a:ext cx="2630000" cy="4800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</a:rPr>
              <a:t>✅ AT TRANSIT END</a:t>
            </a:r>
          </a:p>
        </p:txBody>
      </p:sp>
      <p:sp>
        <p:nvSpPr>
          <p:cNvPr id="17" name="Col3Content"/>
          <p:cNvSpPr/>
          <p:nvPr/>
        </p:nvSpPr>
        <p:spPr>
          <a:xfrm>
            <a:off x="6181000" y="2240000"/>
            <a:ext cx="2560000" cy="362000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B9BD5"/>
                </a:solidFill>
                <a:latin typeface="Calibri"/>
              </a:rPr>
              <a:t>Volume Delta Audit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Delivered volume vs. filled volume reconciled. Any shortfall beyond tolerance auto-logged as breach event.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B9BD5"/>
                </a:solidFill>
                <a:latin typeface="Calibri"/>
              </a:rPr>
              <a:t>Final Density Comparison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End-point density vs. departure fingerprint confirms no adulteration occurred en route.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B9BD5"/>
                </a:solidFill>
                <a:latin typeface="Calibri"/>
              </a:rPr>
              <a:t>TCU Black Box Sync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Full trip log — density, volume, tamper events, GPS trace — uploaded to depot dashboard.</a:t>
            </a:r>
          </a:p>
          <a:p>
            <a:pPr marL="0" indent="0">
              <a:buNone/>
            </a:pPr>
            <a:endParaRPr lang="en-US" sz="9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5B9BD5"/>
                </a:solidFill>
                <a:latin typeface="Calibri"/>
              </a:rPr>
              <a:t>Seal &amp; Valve Re-verify</a:t>
            </a:r>
          </a:p>
          <a:p>
            <a:pPr marL="0" indent="0">
              <a:lnSpc>
                <a:spcPts val="1200"/>
              </a:lnSpc>
              <a:buNone/>
            </a:pPr>
            <a:r>
              <a:rPr lang="en-US" sz="1000" b="0" dirty="0">
                <a:solidFill>
                  <a:srgbClr val="D0D8E0"/>
                </a:solidFill>
                <a:latin typeface="Calibri"/>
              </a:rPr>
              <a:t>Physical valve and hatch status confirmed closed at delivery point. Signed off for next dispatch.</a:t>
            </a:r>
          </a:p>
        </p:txBody>
      </p:sp>
      <p:sp>
        <p:nvSpPr>
          <p:cNvPr id="18" name="Footer"/>
          <p:cNvSpPr/>
          <p:nvPr/>
        </p:nvSpPr>
        <p:spPr>
          <a:xfrm>
            <a:off x="365760" y="6000000"/>
            <a:ext cx="841248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0" i="1" dirty="0">
                <a:solidFill>
                  <a:srgbClr val="607080"/>
                </a:solidFill>
                <a:latin typeface="Calibri" pitchFamily="34" charset="0"/>
              </a:rPr>
              <a:t>All checks automated via hardwired TCU. No driver interaction required. Logs tamper-proof per OISD-117 &amp; MIL-STD-810.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RESPONSE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Containment Protocol — Three Breach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9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60120"/>
            <a:ext cx="2834640" cy="658368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Breach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Valve Failure</a:t>
            </a:r>
            <a:endParaRPr lang="en-US" sz="9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168" y="969264"/>
            <a:ext cx="530352" cy="53035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810512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6656" y="17556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foot valves (now sensor-controlled) activate on bottom breach detection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8328" y="2578608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76656" y="252374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triggers automated valve closure, isolating fluid at tank base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8328" y="3346704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832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76656" y="329184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fired to dashboard with GPS location and breach severity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38328" y="4114800"/>
            <a:ext cx="256032" cy="256032"/>
          </a:xfrm>
          <a:prstGeom prst="ellipse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76656" y="405993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Valve status logged to tamper-proof TCU black box for evidence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172968" y="96012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172968" y="960120"/>
            <a:ext cx="283464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82696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Gasket / Top Breach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282696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Line Lockdown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8968" y="969264"/>
            <a:ext cx="530352" cy="53035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310128" y="181051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3101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3648456" y="17556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inert nitrogen pressure closed — vapour line sealed immediately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3310128" y="2578608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31012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3648456" y="252374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Metered micro-vacuum applied to vapour space to keep fluid outflow near-zero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3310128" y="3346704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1012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3648456" y="329184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pressure calibrated to ≈ outflow force — excess vacuum avoided to prevent structural risk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3310128" y="4114800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31012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3648456" y="405993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event timestamped and transmitted via industrial eSIM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144768" y="960120"/>
            <a:ext cx="2834640" cy="39776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A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6144768" y="960120"/>
            <a:ext cx="2834640" cy="658368"/>
          </a:xfrm>
          <a:prstGeom prst="rect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54496" y="960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Flange / Meter Breach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6254496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Isolation</a:t>
            </a:r>
            <a:endParaRPr lang="en-US" sz="950" dirty="0"/>
          </a:p>
        </p:txBody>
      </p:sp>
      <p:pic>
        <p:nvPicPr>
          <p:cNvPr id="4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0768" y="969264"/>
            <a:ext cx="530352" cy="530352"/>
          </a:xfrm>
          <a:prstGeom prst="rect">
            <a:avLst/>
          </a:prstGeom>
        </p:spPr>
      </p:pic>
      <p:sp>
        <p:nvSpPr>
          <p:cNvPr id="44" name="Shape 39"/>
          <p:cNvSpPr/>
          <p:nvPr/>
        </p:nvSpPr>
        <p:spPr>
          <a:xfrm>
            <a:off x="6281928" y="1810512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62819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6620256" y="175564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inline valves between tank segments close immediately on breach signal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6281928" y="2578608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6281928" y="25786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9" name="Text 44"/>
          <p:cNvSpPr/>
          <p:nvPr/>
        </p:nvSpPr>
        <p:spPr>
          <a:xfrm>
            <a:off x="6620256" y="2523744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Compartment isolation prevents total tank loss — only affected segment exposed</a:t>
            </a:r>
            <a:endParaRPr lang="en-US" sz="900" dirty="0"/>
          </a:p>
        </p:txBody>
      </p:sp>
      <p:sp>
        <p:nvSpPr>
          <p:cNvPr id="50" name="Shape 45"/>
          <p:cNvSpPr/>
          <p:nvPr/>
        </p:nvSpPr>
        <p:spPr>
          <a:xfrm>
            <a:off x="6281928" y="3346704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6281928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47"/>
          <p:cNvSpPr/>
          <p:nvPr/>
        </p:nvSpPr>
        <p:spPr>
          <a:xfrm>
            <a:off x="6620256" y="3291840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loss logged per segment; delta triggers density re-check on remaining fuel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6281928" y="4114800"/>
            <a:ext cx="256032" cy="256032"/>
          </a:xfrm>
          <a:prstGeom prst="ellipse">
            <a:avLst/>
          </a:prstGeom>
          <a:solidFill>
            <a:srgbClr val="1FA8A0"/>
          </a:solidFill>
          <a:ln w="12700">
            <a:solidFill>
              <a:srgbClr val="1FA8A0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281928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5" name="Text 50"/>
          <p:cNvSpPr/>
          <p:nvPr/>
        </p:nvSpPr>
        <p:spPr>
          <a:xfrm>
            <a:off x="6620256" y="4059936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escalated to depot control with segment map and volume loss estimate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201168" y="4919472"/>
            <a:ext cx="868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protocols designed to minimise total tank loss while preserving structural integrity. Foot valve spec per OISD-117; nitrogen/vacuum parameters per SAM proprietary design.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in the Market — and Why TransitGuard™ Fills It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2240280" cy="41148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960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4630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GPS/App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77640" y="960120"/>
            <a:ext cx="14630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Cards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0" y="960120"/>
            <a:ext cx="1463040" cy="411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Seals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95160" y="960120"/>
            <a:ext cx="146304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68312" y="96012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TransitGuard™ ✓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" y="1371600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7160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density (adulteration)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371600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4203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77640" y="1371600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1371600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95160" y="1371600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37160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82880" y="1792224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79222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Hardware, no phone dependency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1792224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977640" y="1792224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5079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0" y="1792224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955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95160" y="1792224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68312" y="179222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82880" y="2212848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21284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breach containment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68880" y="2212848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4203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977640" y="2212848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5079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486400" y="2212848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5955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95160" y="2212848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68312" y="221284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82880" y="2633472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63347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 valve + vapor lockdown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68880" y="2633472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977640" y="2633472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5079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86400" y="2633472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5955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95160" y="2633472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68312" y="2633472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82880" y="3054096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054096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isolation on side breach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468880" y="3054096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4203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977640" y="3054096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5079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486400" y="3054096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5955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995160" y="3054096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68312" y="3054096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82880" y="3474720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3474720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72-hr tamper-proof battery backup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468880" y="347472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54203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977640" y="347472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5079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486400" y="3474720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5955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995160" y="3474720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68312" y="3474720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82880" y="3895344"/>
            <a:ext cx="224028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74320" y="3895344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cellular dead zones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468880" y="3895344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54203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977640" y="3895344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05079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5486400" y="3895344"/>
            <a:ext cx="1463040" cy="402336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55955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6995160" y="3895344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68312" y="3895344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5" name="Shape 83"/>
          <p:cNvSpPr/>
          <p:nvPr/>
        </p:nvSpPr>
        <p:spPr>
          <a:xfrm>
            <a:off x="182880" y="4315968"/>
            <a:ext cx="22402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74320" y="4315968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MIL-STD-810 armored controller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468880" y="4315968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54203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977640" y="4315968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405079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1" name="Shape 89"/>
          <p:cNvSpPr/>
          <p:nvPr/>
        </p:nvSpPr>
        <p:spPr>
          <a:xfrm>
            <a:off x="5486400" y="4315968"/>
            <a:ext cx="14630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55955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93" name="Shape 91"/>
          <p:cNvSpPr/>
          <p:nvPr/>
        </p:nvSpPr>
        <p:spPr>
          <a:xfrm>
            <a:off x="6995160" y="4315968"/>
            <a:ext cx="1463040" cy="402336"/>
          </a:xfrm>
          <a:prstGeom prst="rect">
            <a:avLst/>
          </a:prstGeom>
          <a:solidFill>
            <a:srgbClr val="FFF8E8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68312" y="4315968"/>
            <a:ext cx="1399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95" name="Text 93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FleetX.io 2026; OISD Standard 117; MIL-STD-810; Digital Personal Data Protection Act 2023; TransitGuard™ Proprietary Design Spec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3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 — 500-Truck Fleet Model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3657600" cy="2834640"/>
          </a:xfrm>
          <a:prstGeom prst="rect">
            <a:avLst/>
          </a:prstGeom>
          <a:solidFill>
            <a:srgbClr val="243040"/>
          </a:solidFill>
          <a:ln w="1270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Assumptions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Size: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691640" y="146304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tanker trucks (mid-sized OMC)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80136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Load: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91640" y="180136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litres per trip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21396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Pilferage Rate: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213969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per trip (conservative mid-range)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7802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Diesel Price: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91640" y="247802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₹109.59/L (IOCL industrial, Mar 2026)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81635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Trips/Truck/Year: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91640" y="281635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trips (5/week)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C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91640" y="315468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(conservative hardware estimate)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34930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IOCL/Autocar Professional Mar 2026; FleetX.io 2026;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Fuel Delivery Industry Analysis 2023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160520" y="96012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D9404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70248" y="1051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₹170 Cr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270248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Pilferage Loss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70248" y="1856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trucks × 260 trips × 750L × ₹109.59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83680" y="96012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2DB8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693408" y="105156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₹136 Cr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693408" y="15819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Recoverable Savings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93408" y="1856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recovery of ₹170 Cr annual loss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60520" y="242316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E8A0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70248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₹15–20 Cr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270248" y="3044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Deployment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270248" y="3319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₹3–4 lakh per unit, 500 trucks installed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583680" y="2423160"/>
            <a:ext cx="2286000" cy="1353312"/>
          </a:xfrm>
          <a:prstGeom prst="rect">
            <a:avLst/>
          </a:prstGeom>
          <a:solidFill>
            <a:srgbClr val="243040"/>
          </a:solidFill>
          <a:ln w="19050">
            <a:solidFill>
              <a:srgbClr val="1FA8A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93408" y="251460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Months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693408" y="304495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93408" y="331927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₹136 Cr annual recovery rate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45262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Figures based on published industry data. Actual ROI varies by fleet size, route profile, and pilferage base rate. Diesel price: ₹109.59/L (IOCL industrial rate, March 2026).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Risk Register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" y="932688"/>
            <a:ext cx="2340864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326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78608" y="932688"/>
            <a:ext cx="713232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93268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28416" y="932688"/>
            <a:ext cx="3255264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93268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20256" y="932688"/>
            <a:ext cx="1426464" cy="34747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3408" y="932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01168" y="1280160"/>
            <a:ext cx="23408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801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drift in 45°C Indian summer heat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578608" y="1280160"/>
            <a:ext cx="713232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2801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328416" y="1280160"/>
            <a:ext cx="32552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2801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Temp-compensated sensors (±0.0001 g/cm³). Bi-annual calibration per OISD-117.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620256" y="1280160"/>
            <a:ext cx="14264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93408" y="12801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OISD Std 117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1168" y="1737360"/>
            <a:ext cx="23408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7373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across diverse tanker models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78608" y="1737360"/>
            <a:ext cx="7132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17373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28416" y="1737360"/>
            <a:ext cx="32552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01568" y="17373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kit design. Pilot on 50 trucks across 3 OMC fleets before rollout.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620256" y="1737360"/>
            <a:ext cx="14264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93408" y="17373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MoPNG Circular on Tanker Modernization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01168" y="2194560"/>
            <a:ext cx="23408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1945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dead zones on NH/SH routes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578608" y="2194560"/>
            <a:ext cx="713232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21945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28416" y="2194560"/>
            <a:ext cx="32552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1568" y="21945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Edge-logic stores 72-hr encrypted data on-device; syncs on signal recovery.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20256" y="2194560"/>
            <a:ext cx="14264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93408" y="21945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 Coverage Maps 2024; DOT Rural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01168" y="2651760"/>
            <a:ext cx="23408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26517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tampering with conduit/wiring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78608" y="2651760"/>
            <a:ext cx="713232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33472" y="26517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28416" y="2651760"/>
            <a:ext cx="32552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26517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Armored galvanized conduit; conduit break = instant alert. MIL-STD-810 TCU.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620256" y="2651760"/>
            <a:ext cx="1426464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93408" y="26517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MIL-STD-810 Enclosure Rating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01168" y="3108960"/>
            <a:ext cx="23408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108960"/>
            <a:ext cx="22677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location data privacy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578608" y="3108960"/>
            <a:ext cx="713232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3108960"/>
            <a:ext cx="658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DB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328416" y="3108960"/>
            <a:ext cx="32552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01568" y="3108960"/>
            <a:ext cx="3182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encryption; only aggregate flags sent — no granular surveillance.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20256" y="3108960"/>
            <a:ext cx="1426464" cy="438912"/>
          </a:xfrm>
          <a:prstGeom prst="rect">
            <a:avLst/>
          </a:prstGeom>
          <a:solidFill>
            <a:srgbClr val="F4F8FB"/>
          </a:solidFill>
          <a:ln w="6350">
            <a:solidFill>
              <a:srgbClr val="D0D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93408" y="3108960"/>
            <a:ext cx="1353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DATA SOURCES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EIA Country Analysis: India (Feb 2025). India consumed 5.5 million b/d in 2024. www.eia.gov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124358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IOCL / Autocar Professional (Mar 2026). Industrial diesel revised to ₹109.59/L. www.autocarpro.in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0040" y="15270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PPAC (2025–26). Petroleum Planning &amp; Analysis Cell — petroleum statistics. ppac.gov.in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The Fuel Delivery Industry Analysis (2023). 4–7% average fuel lost per tanker trip to pilferage.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20040" y="209397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FleetX.io Fleet Intelligence Report (May 2026). 10–20% fleet fuel expenditure lost to pilferage annually.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23774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Deccan Herald — 'Anatomy of Oil Pilferage'. ~60 litres siphoned per truck per trip (Bangalore terminals).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26609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IJCA Vol.181 No.33 (2018). Anti-Pilferage Research for Indian tanker fleet.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944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SSRN: 3508618 — IoT-Based Fuel Tankers Tracking and Adulterant Prevention (Saha et al., 2019).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322783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Market.us (2025). Oil &amp; Gas IoT Sensors Market: USD 476.6M (2024) → USD 9,372M by 2034, CAGR 34.7%.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351129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MRFR / Market Research Future (Jun 2025). India IoT Sensor Market: USD 3.81B (2024) → USD 17.89B by 2035.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37947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OISD Standard 117 — Petroleum Tanker Safety. Ministry of Petroleum &amp; Natural Gas, GoI.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407822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MIL-STD-810 — Environmental Engineering Considerations (TCU enclosure rating reference).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43616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Digital Personal Data Protection Act 2023 (DPDP Act). Government of India.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TRAI Coverage Maps 2024; DOT Rural Connectivity Programme.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statistics reflect latest available data as of 2024–2026. Financial model uses IOCL industrial diesel price (₹109.59/L, March 2026). Pilferage rate and recovery estimates based on published industry data.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1753</Words>
  <Application>Microsoft Office PowerPoint</Application>
  <PresentationFormat>On-screen Show (16:9)</PresentationFormat>
  <Paragraphs>261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TransitGuard Fuel Pilferage Solution</dc:title>
  <dc:subject>PptxGenJS Presentation</dc:subject>
  <dc:creator>PptxGenJS</dc:creator>
  <cp:lastModifiedBy>Nanda Kumar</cp:lastModifiedBy>
  <cp:revision>3</cp:revision>
  <dcterms:created xsi:type="dcterms:W3CDTF">2026-06-04T05:51:22Z</dcterms:created>
  <dcterms:modified xsi:type="dcterms:W3CDTF">2026-06-04T07:56:59Z</dcterms:modified>
</cp:coreProperties>
</file>