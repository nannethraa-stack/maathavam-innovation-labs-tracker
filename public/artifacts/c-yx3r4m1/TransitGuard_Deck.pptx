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51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64008" cy="5143500"/>
          </a:xfrm>
          <a:prstGeom prst="rect">
            <a:avLst/>
          </a:prstGeom>
          <a:solidFill>
            <a:srgbClr val="F5C060"/>
          </a:solidFill>
          <a:ln w="12700">
            <a:solidFill>
              <a:srgbClr val="F5C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1148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Zero-Pilferage Hardware Security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9385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Fuel Tanker Fleet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4572000" cy="36576"/>
          </a:xfrm>
          <a:prstGeom prst="rect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97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Solution  ·  Breach Response  ·  ROI  ·  Differentiation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JUNE 2026  |  Patent : Dr Sundar Ramakrishnan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Fuel Pilferage Crisis — The Numbers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78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Trip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fuel lost 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to pilferage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The Fuel Delivery, 2023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404872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789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496312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Truck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96312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per-truck siphon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trip (Bangalore terminals)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496312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Deccan Herald Investigation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81144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07899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2584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4672584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Cost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72584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fleet fuel expenditure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pilferage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672584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FleetX.io Intelligence, 2026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757416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107899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8856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Cr+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848856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48856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national transit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at 1% of 5.5M b/d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848856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EIA India 2024; Industry est.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228600" y="3913632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5760" y="38953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consumed 5.5 million barrels/day in 2024 — even 1% transit loss = ₹8,000–12,000 Cr annually  [EIA Country Analysis: India, 2024]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28600" y="4261104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2428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GPS-only and app-based systems defeated daily — drivers unplug OBD dongles or exploit network dead zones  [FleetX.io Fleet Intelligence, 2026]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28600" y="4608576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diesel revised to ₹109.59/litre (March 2026), making every litre lost increasingly costly  [IOCL / Autocar Professional, March 2026]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Drivers Beat Today's Systems — Four Exploit Vectors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73152" cy="166420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475488" cy="475488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5156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Kill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" y="143560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turns off phone Bluetooth. App-based trackers go dark with no alert. Tanker invisible for hours.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90872" y="96012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960120"/>
            <a:ext cx="73152" cy="166420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143000"/>
            <a:ext cx="475488" cy="475488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3752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05156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Unplug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95544" y="143560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dongle yanked or power cut. Signal loss logged as 'dead zone' — completely unverifiable by depot.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28600" y="274320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2743200"/>
            <a:ext cx="73152" cy="16642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2926080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834640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33272" y="2898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Duplication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33272" y="321868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Abloy seal keys cloned via insider nexus. ~60 litres removed in minutes within the 35 km depot-to-bunk window.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90872" y="274320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90872" y="2743200"/>
            <a:ext cx="73152" cy="16642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73752" y="2926080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73752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834640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95544" y="2898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Dilution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495544" y="321868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Petrol/diesel adulterated with kerosene mid-transit. Density change invisible without real-time sensor fingerprinting.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28600" y="455371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Deccan Herald 'Anatomy of Oil Pilferage'; IJCA Anti-Pilferage Research (2018); FleetX.io Fleet Intelligence (2026)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 Architecture: Zero Driver Dependence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hardware topology — every sensor hardwired, every alert automated. No phone. No Bluetooth. No driver touchpoint.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Density Sensor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Tuning-fork inline density meter. Flags ±0.5% deviation — catches kerosene adulteration in real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Sensors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Capacitive/ultrasonic rods. Detects 2–3 litre drop in a 20,000 L tank — siphon-level precision.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17336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03136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TCU (Black Box)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54496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 controller in cabin. Galvanized steel conduit. Conduit break = instant tamper alert.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28600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8211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eSIM + Cell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SIM bypasses phone &amp; Bluetooth entirely. Direct tower connection, always-on.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72968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2DB8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8211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58768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Backup Battery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310128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through main battery cuts. Battery disconnect triggers POWER CUT ALERT with live GPS.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17336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F5C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182112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03136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Siphon Alert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254496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drop detected while vehicle is stationary = auto-flag to dashboard and WhatsApp/SMS.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Containment Protocol — Three Breach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34640" cy="65836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Valve Failure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969264"/>
            <a:ext cx="530352" cy="5303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810512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66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foot valves (now sensor-controlled) activate on bottom breach detection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" y="2578608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triggers automated valve closure, isolating fluid at tank base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8328" y="3346704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 to dashboard with GPS location and breach severity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8328" y="4114800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status logged to tamper-proof TCU black box for evidence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729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72968" y="960120"/>
            <a:ext cx="283464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826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Gasket / Top Breach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826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Line Lockdown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969264"/>
            <a:ext cx="530352" cy="53035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310128" y="181051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101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484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inert nitrogen pressure closed — vapour line sealed immediately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310128" y="2578608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101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6484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micro-vacuum applied to vapour space to keep fluid outflow near-zero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10128" y="334670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101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6484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pressure calibrated to ≈ outflow force — excess vacuum avoided to prevent structural risk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310128" y="411480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101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484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event timestamped and transmitted via industrial eSIM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1447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144768" y="960120"/>
            <a:ext cx="2834640" cy="658368"/>
          </a:xfrm>
          <a:prstGeom prst="rect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544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Flange / Meter Breach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2544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Isolation</a:t>
            </a:r>
            <a:endParaRPr lang="en-US" sz="95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969264"/>
            <a:ext cx="530352" cy="530352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6281928" y="1810512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2819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6202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inline valves between tank segments close immediately on breach signal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281928" y="2578608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819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6202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isolation prevents total tank loss — only affected segment exposed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281928" y="3346704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2819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6202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loss logged per segment; delta triggers density re-check on remaining fuel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281928" y="4114800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2819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66202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escalated to depot control with segment map and volume loss estimate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201168" y="491947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protocols designed to minimise total tank loss while preserving structural integrity. Foot valve spec per OISD-117; nitrogen/vacuum parameters per SAM proprietary design.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the Market — and Why TransitGuard™ Fills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240280" cy="41148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GPS/App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Seals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960120"/>
            <a:ext cx="146304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371600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716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density (adulteration)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1371600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1792224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79222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no phone dependency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7764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079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95160" y="1792224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" y="2212848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128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breach containment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97764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079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95160" y="2212848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82880" y="2633472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6334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valve + vapor lockdown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97764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079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95160" y="2633472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82880" y="3054096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0540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isolation on side breach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6888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97764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079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955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95160" y="3054096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6831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82880" y="3474720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4747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tamper-proof battery backup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46888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4203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97764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079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48640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5955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995160" y="3474720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6831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82880" y="3895344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8953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cellular dead zones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46888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4203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97764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5079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48640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955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995160" y="3895344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6831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82880" y="4315968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3159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MIL-STD-810 armored controller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46888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4203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97764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5079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548640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5955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6995160" y="4315968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6831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FleetX.io 2026; OISD Standard 117; MIL-STD-810; Digital Personal Data Protection Act 2023; TransitGuard™ Proprietary Design Spec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— 500-Truck Fleet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657600" cy="2834640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Size: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tanker trucks (mid-sized OMC)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18013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litres per trip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Pilferage Rate: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2139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per trip (conservative mid-range)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78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Price: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24780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₹109.59/L (IOCL industrial, Mar 2026)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Trips/Truck/Year: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8163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trips (5/week)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31546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(conservative hardware estimate)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IOCL/Autocar Professional Mar 2026; FleetX.io 2026;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 Delivery Industry Analysis 2023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60520" y="96012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70248" y="1051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 Cr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70248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Pilferage Loss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0248" y="1856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trucks × 260 trips × 750L × ₹109.59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96012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2DB8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93408" y="1051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₹136 Cr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93408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Savings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93408" y="1856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recovery of ₹170 Cr annual loss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60520" y="242316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70248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₹15–20 Cr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70248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Deployment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0248" y="3319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 lakh per unit, 500 trucks installed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242316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93408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Months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93408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3408" y="3319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₹136 Cr annual recovery rate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4526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Figures based on published industry data. Actual ROI varies by fleet size, route profile, and pilferage base rate. Diesel price: ₹109.59/L (IOCL industrial rate, March 2026).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61664" y="1295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Risk Register </a:t>
            </a:r>
            <a:endParaRPr lang="en-US" sz="28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23408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78608" y="932688"/>
            <a:ext cx="713232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326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28416" y="932688"/>
            <a:ext cx="32552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20256" y="932688"/>
            <a:ext cx="14264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12801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801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 in 45°C Indian summer heat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2801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2801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28416" y="12801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280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Temp-compensated sensors (±0.0001 g/cm³). Bi-annual calibration per OISD-117.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0256" y="12801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2801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OISD Std 117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1737360"/>
            <a:ext cx="23408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373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across diverse tanker models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78608" y="1737360"/>
            <a:ext cx="7132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17373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28416" y="1737360"/>
            <a:ext cx="32552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7373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kit design. Pilot on 50 trucks across 3 OMC fleets before rollout.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20256" y="1737360"/>
            <a:ext cx="14264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7373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MoPNG Circular on Tanker Modernization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21945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1945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dead zones on NH/SH routes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78608" y="21945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21945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28416" y="21945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21945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Edge-logic stores 72-hr encrypted data on-device; syncs on signal recovery.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0256" y="21945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21945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Coverage Maps 2024; DOT Rural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2651760"/>
            <a:ext cx="23408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517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tampering with conduit/wiring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78608" y="2651760"/>
            <a:ext cx="7132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26517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28416" y="2651760"/>
            <a:ext cx="32552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26517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galvanized conduit; conduit break = instant alert. MIL-STD-810 TCU.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20256" y="2651760"/>
            <a:ext cx="14264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26517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MIL-STD-810 Enclosure Rating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1168" y="31089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089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location data privacy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78608" y="31089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1089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28416" y="31089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31089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encryption; only aggregate flags sent — no granular surveillance.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20256" y="31089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31089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EIA Country Analysis: India (Feb 2025). India consumed 5.5 million b/d in 2024. www.eia.gov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24358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IOCL / Autocar Professional (Mar 2026). Industrial diesel revised to ₹109.59/L. www.autocarpro.in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PPAC (2025–26). Petroleum Planning &amp; Analysis Cell — petroleum statistics. ppac.gov.in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The Fuel Delivery Industry Analysis (2023). 4–7% average fuel lost per tanker trip to pilferage.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209397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FleetX.io Fleet Intelligence Report (May 2026). 10–20% fleet fuel expenditure lost to pilferage annually.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Deccan Herald — 'Anatomy of Oil Pilferage'. ~60 litres siphoned per truck per trip (Bangalore terminals).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660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IJCA Vol.181 No.33 (2018). Anti-Pilferage Research for Indian tanker fleet.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SSRN: 3508618 — IoT-Based Fuel Tankers Tracking and Adulterant Prevention (Saha et al., 2019).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32278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Market.us (2025). Oil &amp; Gas IoT Sensors Market: USD 476.6M (2024) → USD 9,372M by 2034, CAGR 34.7%.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35112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MRFR / Market Research Future (Jun 2025). India IoT Sensor Market: USD 3.81B (2024) → USD 17.89B by 2035.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OISD Standard 117 — Petroleum Tanker Safety. Ministry of Petroleum &amp; Natural Gas, GoI.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407822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MIL-STD-810 — Environmental Engineering Considerations (TCU enclosure rating reference).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3616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Digital Personal Data Protection Act 2023 (DPDP Act). Government of India.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TRAI Coverage Maps 2024; DOT Rural Connectivity Programme.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reflect latest available data as of 2024–2026. Financial model uses IOCL industrial diesel price (₹109.59/L, March 2026). Pilferage rate and recovery estimates based on published industry data.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1470</Words>
  <Application>Microsoft Office PowerPoint</Application>
  <PresentationFormat>On-screen Show (16:9)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TransitGuard Fuel Pilferage Solution</dc:title>
  <dc:subject>PptxGenJS Presentation</dc:subject>
  <dc:creator>PptxGenJS</dc:creator>
  <cp:lastModifiedBy>Nanda Kumar</cp:lastModifiedBy>
  <cp:revision>3</cp:revision>
  <dcterms:created xsi:type="dcterms:W3CDTF">2026-06-04T05:51:22Z</dcterms:created>
  <dcterms:modified xsi:type="dcterms:W3CDTF">2026-06-04T05:51:06Z</dcterms:modified>
</cp:coreProperties>
</file>