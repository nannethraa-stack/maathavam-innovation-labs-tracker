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30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Integrated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Water Harvesting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urban groundwater recharge solution for water-stressed cities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4114800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Problem  ·  Solution  ·  Differentiation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D4E43CE-FA51-D0D2-C61D-F9294DE0D578}"/>
              </a:ext>
            </a:extLst>
          </p:cNvPr>
          <p:cNvSpPr/>
          <p:nvPr/>
        </p:nvSpPr>
        <p:spPr>
          <a:xfrm>
            <a:off x="604149" y="414820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highlight>
                  <a:srgbClr val="C0C0C0"/>
                </a:highlight>
              </a:rPr>
              <a:t>Patent : Dr Sundar Ramakrishnan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Groundwater Crisis — A Racing Clock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5727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11480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run out of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by 2030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3291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/ CGWB 2024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27832" y="960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0789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15727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319272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9272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extraction rate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recharge capacity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19272" y="3291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CGWB District Report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35624" y="960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07899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27064" y="15727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MLD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6227064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Gap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27064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projected water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by 2030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27064" y="3291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Tamil Nadu WRD, May 2025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320040" y="3767328"/>
            <a:ext cx="36576" cy="2011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Nadu: 13 districts recorded falling groundwater in May 2025 vs. May 2024  [Source: Tamil Nadu WRD, 2025]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4123944"/>
            <a:ext cx="36576" cy="2011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105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extracts ~25% of global groundwater — largest user globally  [Source: CGWB Dynamic Groundwater Report 2024]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20040" y="4480560"/>
            <a:ext cx="36576" cy="2011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60% of India's districts faced drought-like conditions in 2024; only 8% of wastewater is treated  [Source: Insights on India, 2025]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roads are a massive, untapped water loss channel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Urbanisation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1371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cities expand, natural soil is replaced by impervious surfaces — roads, pavements, buildings. Rainwater that once percolated into the ground now flows off as surface runoff, carrying pollutants and eventually draining into the sea or causing urban flooding.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148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14884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Impervious Roads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" y="2532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Tarmac and concrete block natural percolation; surface runoff exceeds 70% in dense urban zones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2148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148840"/>
            <a:ext cx="64008" cy="11430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3752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Road Drainage Recharge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73752" y="2532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drains channel water away from aquifers — a critical design gap in most Indian cities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4107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410712"/>
            <a:ext cx="6400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Over-extraction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4632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uses 127.5% of its recharge capacity. Extraction outpaces replenishment by a wide margin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34107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410712"/>
            <a:ext cx="6400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73752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vs. Scarcity Paradox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3752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flood during monsoon, yet face acute water scarcity in summer — both caused by the same failure to capture runoff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CGWB 2024; Tamil Nadu WRD 2025; JICE IAS Groundwater Report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Integrated Road Water Harvesting (IRWH)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2057400" cy="33832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361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92608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Water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Points (PWCP)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equipment identifies the lowest point every 30m on each road. Wells (4m deep, 1m wide) filled with blue-metal stones are installed at each point.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95728" y="1417320"/>
            <a:ext cx="2057400" cy="338328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53619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05456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505456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Percolation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Recharge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05456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enters PWCPs and percolates through stones directly into the soil, recharging the local water table in real time during rainfall.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08576" y="1417320"/>
            <a:ext cx="2057400" cy="3383280"/>
          </a:xfrm>
          <a:prstGeom prst="rect">
            <a:avLst/>
          </a:prstGeom>
          <a:solidFill>
            <a:srgbClr val="00C5CD"/>
          </a:solidFill>
          <a:ln w="12700">
            <a:solidFill>
              <a:srgbClr val="00C5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53619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8304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718304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Water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Network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18304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8-inch horizontal pipes at 1m depth carry overflow from PWCPs to Water Recharge Centres (WRCs) beneath public playgrounds and parks.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21424" y="1417320"/>
            <a:ext cx="2057400" cy="3383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53619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3115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931152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Recharge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(WRC)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31152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wells (18m deep, 2m diameter) beneath playgrounds store up to 22 lakh litres per WRC. 221 WRCs in Chennai alone = 486.2 crore litres total capacity.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calculated using proprietary SAM's Formula  |  Pilot proposed: Nagapattinam (Over-exploited, 102% extraction stage)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Today's Market — and Why SAM Fills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2402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508760" cy="38404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RWH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960120"/>
            <a:ext cx="1508760" cy="38404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Mgmt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960120"/>
            <a:ext cx="1508760" cy="38404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960120"/>
            <a:ext cx="1508760" cy="38404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IRWH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344168"/>
            <a:ext cx="224028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3441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Utilises road runoff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344168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344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0" y="1344168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1344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344168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344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1344168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344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74650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174650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recharge + storage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1746504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17465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Only storage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1746504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17465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Partial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746504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17465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1746504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17465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148840"/>
            <a:ext cx="224028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21488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dense urban areas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2148840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Requires roofs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23360" y="2148840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6512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Peri-urban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2148840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32320" y="2148840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2551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" y="255117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Soil-type customised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255117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5511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23360" y="255117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25511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Limited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77840" y="255117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25511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N/A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32320" y="2551176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25511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Proprietary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2953512"/>
            <a:ext cx="224028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295351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urban flooding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68880" y="2953512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29535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Marginal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23360" y="2953512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29535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Partial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577840" y="2953512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29535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132320" y="2953512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05472" y="29535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82880" y="335584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33558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468880" y="335584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42032" y="3355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023360" y="335584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96512" y="3355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577840" y="335584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50992" y="3355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32320" y="3355848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05472" y="33558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(jet cleaning)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82880" y="3758184"/>
            <a:ext cx="224028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6032" y="375818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 / pilot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468880" y="3758184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42032" y="3758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023360" y="3758184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96512" y="3758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577840" y="3758184"/>
            <a:ext cx="150876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50992" y="3758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132320" y="3758184"/>
            <a:ext cx="1508760" cy="384048"/>
          </a:xfrm>
          <a:prstGeom prst="rect">
            <a:avLst/>
          </a:prstGeom>
          <a:solidFill>
            <a:srgbClr val="E6F7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05472" y="3758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~₹3 Crore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Technavio India RWH Market Report 2024; CGWB 2024; Tamil Nadu WRD 2025; SAM's Integrated Water Harvesting Proposal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651760"/>
          </a:xfrm>
          <a:prstGeom prst="rect">
            <a:avLst/>
          </a:prstGeom>
          <a:solidFill>
            <a:srgbClr val="0D2D45"/>
          </a:solidFill>
          <a:ln w="19050">
            <a:solidFill>
              <a:srgbClr val="1A9D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Cr.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 capacity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221 WRCs in Chennai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SAM Proposal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2011680" cy="2651760"/>
          </a:xfrm>
          <a:prstGeom prst="rect">
            <a:avLst/>
          </a:prstGeom>
          <a:solidFill>
            <a:srgbClr val="0D2D45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Cr.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755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firka pilot (over-exploited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Nagapattinam)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42032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SAM Launch Strategy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2011680" cy="2651760"/>
          </a:xfrm>
          <a:prstGeom prst="rect">
            <a:avLst/>
          </a:prstGeom>
          <a:solidFill>
            <a:srgbClr val="0D2D45"/>
          </a:solidFill>
          <a:ln w="19050">
            <a:solidFill>
              <a:srgbClr val="00C5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18304" y="1755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Spacing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PWCP installed every 30m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city roads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18304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SAM Design Spec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2011680" cy="2651760"/>
          </a:xfrm>
          <a:prstGeom prst="rect">
            <a:avLst/>
          </a:prstGeom>
          <a:solidFill>
            <a:srgbClr val="0D2D4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94576" y="1755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21 Indian cities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run dry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94576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NITI Aayog/CGWB 2024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0040" y="3767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Strategy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1600200" cy="8046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" y="4535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over-exploited firka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4206240"/>
            <a:ext cx="1600200" cy="8046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21408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48840" y="4535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soil percolation test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94760" y="4206240"/>
            <a:ext cx="1600200" cy="8046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58768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86200" y="4535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PWCP &amp; WRC specs via SAM Formula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32120" y="4206240"/>
            <a:ext cx="1600200" cy="8046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96128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23560" y="4535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govt. playgrounds &amp; roads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69480" y="4206240"/>
            <a:ext cx="1600200" cy="8046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33488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60920" y="4535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pre-monsoon groundwater levels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Tamil Nadu Water Resources Department (May 2025). Groundwater Level Report — 13 Districts. Government of Tamil Nadu.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Central Ground Water Board (CGWB). Dynamic Ground Water Resource of India 2024. Ministry of Jal Shakti, Government of India.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NITI Aayog / CGWB (2024). Groundwater Crisis Projections — 21 Cities by 2030. Government of India.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The Financial World (June 2025). Tamil Nadu's Looming Water Crisis. thefinancialworld.com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SANDRP (March 2026). Groundwater 2025: Depletion and Contamination Rising. sandrp.in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JICE IAS (July 2025). India's Groundwater Crisis 2025. jiceias.com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Insights on India (March 2025). Increasing Water Gap in India. insightsonindia.com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Technavio (2024). India Rainwater Harvesting Market 2024–2028. technavio.com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88620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Intel Market Research (2026). Rain Water Harvesting Market Outlook 2026–2034. intelmarketresearch.com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425196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Rajiv Gandhi Institute for Contemporary Studies. Groundwater Management in India: Tamil Nadu State Report. rgics.org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61772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SAM's Integrated Road Water Harvesting — Original Proposal Document (Source Document for this presentation).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cited reflect the most recent available data as of 2024–2025. Some figures from the original SAM proposal reflect data available at time of writing (2019–2020).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981</Words>
  <Application>Microsoft Office PowerPoint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Integrated Road Water Harvesting</dc:title>
  <dc:subject>PptxGenJS Presentation</dc:subject>
  <dc:creator>PptxGenJS</dc:creator>
  <cp:lastModifiedBy>Nanda Kumar</cp:lastModifiedBy>
  <cp:revision>2</cp:revision>
  <dcterms:created xsi:type="dcterms:W3CDTF">2026-06-04T05:38:08Z</dcterms:created>
  <dcterms:modified xsi:type="dcterms:W3CDTF">2026-06-04T05:35:29Z</dcterms:modified>
</cp:coreProperties>
</file>